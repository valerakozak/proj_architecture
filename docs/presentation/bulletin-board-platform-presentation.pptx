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1bb762fd704b27" /><Relationship Type="http://schemas.openxmlformats.org/officeDocument/2006/relationships/extended-properties" Target="/docProps/app.xml" Id="R2ad24467c4d94c15" /><Relationship Type="http://schemas.openxmlformats.org/officeDocument/2006/relationships/officeDocument" Target="/ppt/presentation.xml" Id="Rc41893220a904b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cdf500f2304565"/>
  </p:sldMasterIdLst>
  <p:notesMasterIdLst>
    <p:notesMasterId xmlns:r="http://schemas.openxmlformats.org/officeDocument/2006/relationships" r:id="R02bb9402aa224a10"/>
  </p:notesMasterIdLst>
  <p:sldIdLst>
    <p:sldId xmlns:r="http://schemas.openxmlformats.org/officeDocument/2006/relationships" id="256" r:id="R5eabb14bab874c7b"/>
    <p:sldId xmlns:r="http://schemas.openxmlformats.org/officeDocument/2006/relationships" id="257" r:id="Ra0dbb224e9d14fd7"/>
    <p:sldId xmlns:r="http://schemas.openxmlformats.org/officeDocument/2006/relationships" id="258" r:id="Rfa95f93449904a25"/>
    <p:sldId xmlns:r="http://schemas.openxmlformats.org/officeDocument/2006/relationships" id="259" r:id="Rdb0ea6aaae934175"/>
    <p:sldId xmlns:r="http://schemas.openxmlformats.org/officeDocument/2006/relationships" id="260" r:id="Rd621d59201d643cf"/>
    <p:sldId xmlns:r="http://schemas.openxmlformats.org/officeDocument/2006/relationships" id="261" r:id="Rbeca8242c5d14853"/>
    <p:sldId xmlns:r="http://schemas.openxmlformats.org/officeDocument/2006/relationships" id="262" r:id="Rb460f251997649e2"/>
    <p:sldId xmlns:r="http://schemas.openxmlformats.org/officeDocument/2006/relationships" id="263" r:id="Rec1c2d1c3d0d49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df500f2304565" /><Relationship Type="http://schemas.openxmlformats.org/officeDocument/2006/relationships/theme" Target="/ppt/theme/theme1.xml" Id="R66614de5c3834709" /><Relationship Type="http://schemas.openxmlformats.org/officeDocument/2006/relationships/notesMaster" Target="/ppt/notesMasters/notesMaster1.xml" Id="R02bb9402aa224a10" /><Relationship Type="http://schemas.openxmlformats.org/officeDocument/2006/relationships/presProps" Target="/ppt/presProps.xml" Id="R2129bc8b128d427a" /><Relationship Type="http://schemas.openxmlformats.org/officeDocument/2006/relationships/viewProps" Target="/ppt/viewProps.xml" Id="Rfcda61f0c4e2449c" /><Relationship Type="http://schemas.openxmlformats.org/officeDocument/2006/relationships/tableStyles" Target="/ppt/tableStyles.xml" Id="Rd9a6e03e297c41d9" /><Relationship Type="http://schemas.openxmlformats.org/officeDocument/2006/relationships/slide" Target="/ppt/slides/slide1.xml" Id="R5eabb14bab874c7b" /><Relationship Type="http://schemas.openxmlformats.org/officeDocument/2006/relationships/slide" Target="/ppt/slides/slide2.xml" Id="Ra0dbb224e9d14fd7" /><Relationship Type="http://schemas.openxmlformats.org/officeDocument/2006/relationships/slide" Target="/ppt/slides/slide3.xml" Id="Rfa95f93449904a25" /><Relationship Type="http://schemas.openxmlformats.org/officeDocument/2006/relationships/slide" Target="/ppt/slides/slide4.xml" Id="Rdb0ea6aaae934175" /><Relationship Type="http://schemas.openxmlformats.org/officeDocument/2006/relationships/slide" Target="/ppt/slides/slide5.xml" Id="Rd621d59201d643cf" /><Relationship Type="http://schemas.openxmlformats.org/officeDocument/2006/relationships/slide" Target="/ppt/slides/slide6.xml" Id="Rbeca8242c5d14853" /><Relationship Type="http://schemas.openxmlformats.org/officeDocument/2006/relationships/slide" Target="/ppt/slides/slide7.xml" Id="Rb460f251997649e2" /><Relationship Type="http://schemas.openxmlformats.org/officeDocument/2006/relationships/slide" Target="/ppt/slides/slide8.xml" Id="Rec1c2d1c3d0d49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2a61be836f24b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b0b7239b7c4298" /><Relationship Type="http://schemas.openxmlformats.org/officeDocument/2006/relationships/notesMaster" Target="/ppt/notesMasters/notesMaster1.xml" Id="R6afc9766526141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7122a145a849b8" /><Relationship Type="http://schemas.openxmlformats.org/officeDocument/2006/relationships/notesMaster" Target="/ppt/notesMasters/notesMaster1.xml" Id="Rc64a685fbc0e4f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bc8e860ec74690" /><Relationship Type="http://schemas.openxmlformats.org/officeDocument/2006/relationships/notesMaster" Target="/ppt/notesMasters/notesMaster1.xml" Id="R2e2f2192dc9040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ff1a37d2784b64" /><Relationship Type="http://schemas.openxmlformats.org/officeDocument/2006/relationships/notesMaster" Target="/ppt/notesMasters/notesMaster1.xml" Id="Rc9ad359f555343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82085d84374949" /><Relationship Type="http://schemas.openxmlformats.org/officeDocument/2006/relationships/notesMaster" Target="/ppt/notesMasters/notesMaster1.xml" Id="R5e6da44d992d43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1b0761ebda48e4" /><Relationship Type="http://schemas.openxmlformats.org/officeDocument/2006/relationships/notesMaster" Target="/ppt/notesMasters/notesMaster1.xml" Id="Rfc612a2a0d8c46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cecd66fbe24d67" /><Relationship Type="http://schemas.openxmlformats.org/officeDocument/2006/relationships/notesMaster" Target="/ppt/notesMasters/notesMaster1.xml" Id="Rccb5666463134c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ed67b508dd4ea3" /><Relationship Type="http://schemas.openxmlformats.org/officeDocument/2006/relationships/notesMaster" Target="/ppt/notesMasters/notesMaster1.xml" Id="R1af97fd0d8c644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Платформа для дошки оголошень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Почати із бізнес-проблеми та коротко пояснити цінність системи.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Бізнес-вимоги та ролі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Окремо проговорити ролі гість, користувач, модератор та адміністратор.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Архітектура та патерни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Наголосити на testability, Repository pattern і DTO як на інструментах контролю якості.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REST API та безпека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Показати Swagger і коротко пройтися по auth, listings, moderation, messages,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База даних та доменна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Пояснити зв’язки users-categories-listings-messages та роль SQL migration.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Якість коду та тестування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захисті можна показати інтеграційний флоу й окремо підкреслити automated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DevOps, Docker та CI/CD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Пояснити різницю між CI і CD та показати, що тепер є окремий deploy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Підсумок та готовність до захисту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Завершити сильним summary і показати, що git-історія розбита на rollback-friendly коміти.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9645599614f7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2A1FB9F-9880-4E74-B332-28DF3934E12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625D6F0-5355-4FA4-BDE7-BE94812E97B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75E198-D0D3-4501-9457-67B531D99D7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644421-60E1-4930-9343-CBB30C6DE00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55A938-E11A-45D6-8CC6-F789FE465B3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4fcbae287624078" /><Relationship Type="http://schemas.openxmlformats.org/officeDocument/2006/relationships/slideLayout" Target="/ppt/slideLayouts/slideLayout2.xml" Id="R68e3df4d72b44b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9A84B0-33F4-4010-946C-D7203426951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e3df4d72b44b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402fa9789441db" /><Relationship Type="http://schemas.openxmlformats.org/officeDocument/2006/relationships/notesSlide" Target="/ppt/notesSlides/notesSlide1.xml" Id="R29c8fbd48af74a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c44a4fe83e4db0" /><Relationship Type="http://schemas.openxmlformats.org/officeDocument/2006/relationships/notesSlide" Target="/ppt/notesSlides/notesSlide2.xml" Id="Ra6d2c10bdba642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ed477f135b468a" /><Relationship Type="http://schemas.openxmlformats.org/officeDocument/2006/relationships/notesSlide" Target="/ppt/notesSlides/notesSlide3.xml" Id="R4e8377e39c1847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6d23fd0f524d11" /><Relationship Type="http://schemas.openxmlformats.org/officeDocument/2006/relationships/notesSlide" Target="/ppt/notesSlides/notesSlide4.xml" Id="R4d6774f6b25746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10049112a3475a" /><Relationship Type="http://schemas.openxmlformats.org/officeDocument/2006/relationships/notesSlide" Target="/ppt/notesSlides/notesSlide5.xml" Id="Ree4a32b5414d4c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0186fdfcb84b34" /><Relationship Type="http://schemas.openxmlformats.org/officeDocument/2006/relationships/notesSlide" Target="/ppt/notesSlides/notesSlide6.xml" Id="Rac1e7fbeab614f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1ba9fdefeb4c5b" /><Relationship Type="http://schemas.openxmlformats.org/officeDocument/2006/relationships/notesSlide" Target="/ppt/notesSlides/notesSlide7.xml" Id="R55ab180a2c6246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d81d286c8e464d" /><Relationship Type="http://schemas.openxmlformats.org/officeDocument/2006/relationships/notesSlide" Target="/ppt/notesSlides/notesSlide8.xml" Id="R424c729e524442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55A938-E11A-45D6-8CC6-F789FE465B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30205-FA93-47CF-A54A-943AD941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EA"/>
          </a:solidFill>
          <a:ln xmlns:a="http://schemas.openxmlformats.org/drawingml/2006/main" w="0">
            <a:solidFill>
              <a:srgbClr val="DFF3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E8E05-703C-4FBD-8C71-3C13C98B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6D7"/>
          </a:solidFill>
          <a:ln xmlns:a="http://schemas.openxmlformats.org/drawingml/2006/main" w="0">
            <a:solidFill>
              <a:srgbClr val="FBE6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8FF6F-FE50-4ACA-9525-2B742E5B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14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DFF5"/>
          </a:solidFill>
          <a:ln xmlns:a="http://schemas.openxmlformats.org/drawingml/2006/main" w="0">
            <a:solidFill>
              <a:srgbClr val="EADF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8454B-8347-459A-8ECF-2B915BA6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FINAL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CA0E1-8608-4C14-BFFD-9338E42E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01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42975-A84A-49D9-892C-69136BD5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E73F1-89FE-41A8-9E25-08B04977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Платформа для дошки оголошень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013BF-4CF8-4396-9D90-68CDEE90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870"/>
                </a:solidFill>
              </a:defRPr>
            </a:pPr>
            <a:r>
              <a:rPr sz="1425" b="0">
                <a:solidFill>
                  <a:srgbClr val="5F6870"/>
                </a:solidFill>
              </a:rPr>
              <a:t>Повноцінний backend-проєкт з REST API, модерацією, повідомленнями, тестами, Docker та CI/CD.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ECFAA-C4CE-49BC-92D3-49BF967F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6300"/>
            <a:ext cx="32004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EE52D-79BB-4AC2-9A11-04F6FECE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Presenter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DA4CD-C2B8-4908-AF57-39A2529F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97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Почати із бізнес-проблеми та коротко пояснити цінність системи.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E5F27-C888-42D8-9324-F901B9BD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8EADC-60C4-4402-AEBE-F10D1339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D63"/>
          </a:solidFill>
          <a:ln xmlns:a="http://schemas.openxmlformats.org/drawingml/2006/main" w="0">
            <a:solidFill>
              <a:srgbClr val="1E8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880F5-0F57-4DBF-99EB-51C49CA9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472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Мета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DD9E7-72E6-4621-B037-ED1D39FB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2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Безпечне та структуроване розміщення оголошень у категоріях.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C0BFC-CB5C-4CFA-991F-59CFC468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861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12CC9-89EE-4100-9CC3-30B3072C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D7A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599E71-B978-4E89-9247-4A9792E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472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Ключова ідея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11A32-825B-4321-B840-EEBE2D32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4724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Поєднати чисту архітектуру, безпеку, тестування і DevOps у навчальному проєкті.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F522C-183E-48D3-B72C-3778AA6D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70"/>
                </a:solidFill>
              </a:defRPr>
            </a:pPr>
            <a:r>
              <a:rPr sz="750" b="0">
                <a:solidFill>
                  <a:srgbClr val="5F6870"/>
                </a:solidFill>
              </a:rPr>
              <a:t>Backend project deliverables: architecture, API, tests, Docker, CI/CD, documentation, diagrams, presentation.</a:t>
            </a:r>
          </a:p>
        </p:txBody>
      </p:sp>
    </p:spTree>
    <p:extLst>
      <p:ext uri="{BB962C8B-B14F-4D97-AF65-F5344CB8AC3E}">
        <p14:creationId xmlns:p14="http://schemas.microsoft.com/office/powerpoint/2010/main" val="689399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55A938-E11A-45D6-8CC6-F789FE465B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1306C-67F8-4DB4-B96E-F99B5D1D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EA"/>
          </a:solidFill>
          <a:ln xmlns:a="http://schemas.openxmlformats.org/drawingml/2006/main" w="0">
            <a:solidFill>
              <a:srgbClr val="DFF3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EA495-344A-4FE2-BE63-895CA54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6D7"/>
          </a:solidFill>
          <a:ln xmlns:a="http://schemas.openxmlformats.org/drawingml/2006/main" w="0">
            <a:solidFill>
              <a:srgbClr val="FBE6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CB0C0-1923-43A8-B93C-B58A60C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14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DFF5"/>
          </a:solidFill>
          <a:ln xmlns:a="http://schemas.openxmlformats.org/drawingml/2006/main" w="0">
            <a:solidFill>
              <a:srgbClr val="EADF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D9728-FA7A-40CF-ABE8-4153C7D7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SECTION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86B07-6617-4BA1-821B-EB577A23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02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92B90-1EED-4FC2-99AA-17E0CA7B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E4C59-0DE4-4E2A-B759-3C436533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Бізнес-вимоги та ролі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3846C-6B85-4E39-905A-84FE71C2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870"/>
                </a:solidFill>
              </a:defRPr>
            </a:pPr>
            <a:r>
              <a:rPr sz="1425" b="0">
                <a:solidFill>
                  <a:srgbClr val="5F6870"/>
                </a:solidFill>
              </a:rPr>
              <a:t>Система охоплює головні сценарії публікації, модерації й комунікації між користувачами.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1E236-7F5B-4F07-8F44-18E96A4E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6300"/>
            <a:ext cx="32004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3DCE1-D137-4612-9115-0651238F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Presenter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088AD-A9CA-4A34-8DD3-26DE5C1F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97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Окремо проговорити ролі гість, користувач, модератор та адміністратор.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D7B2B-664F-440C-B996-F57A190B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4BC48-917A-4805-AAAE-0803C476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D63"/>
          </a:solidFill>
          <a:ln xmlns:a="http://schemas.openxmlformats.org/drawingml/2006/main" w="0">
            <a:solidFill>
              <a:srgbClr val="1E8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7DFC9-8791-4AA6-999B-34D68FC8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Гість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62D22-CE3C-4A23-B28E-47D32AB0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Перегляд схвалених оголошень і категорій.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74B98-69DD-4750-83F6-1544E06C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424FA-A804-41ED-AE14-EC63FD67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D7A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8BEBB-4DC3-4948-A46E-C86F4D07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Користувач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8E87A-4F0D-4F50-B93C-26ECBE2F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Реєстрація, створення і редагування оголошень, надсилання повідомлень.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4AF8D-62EC-442F-B21E-EFC0F1F6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E8A4E2-FDDF-43A6-A1F0-E36C93CF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E86F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D7186-3733-4847-9117-B7BF80B1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Модератор / Адмін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31BE1-E7EB-46AD-B848-42AFF655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Модерація контенту, керування категоріями, політиками доступу та користувачами.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9862E-20A3-431B-BEE0-A7A5060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70"/>
                </a:solidFill>
              </a:defRPr>
            </a:pPr>
            <a:r>
              <a:rPr sz="750" b="0">
                <a:solidFill>
                  <a:srgbClr val="5F6870"/>
                </a:solidFill>
              </a:rPr>
              <a:t>Backend project deliverables: architecture, API, tests, Docker, CI/CD, documentation, diagrams,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8405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55A938-E11A-45D6-8CC6-F789FE465B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5FB19-3717-4130-B909-248468DB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EA"/>
          </a:solidFill>
          <a:ln xmlns:a="http://schemas.openxmlformats.org/drawingml/2006/main" w="0">
            <a:solidFill>
              <a:srgbClr val="DFF3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3C0CD-66F2-41A8-86B5-8D8BD3EF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6D7"/>
          </a:solidFill>
          <a:ln xmlns:a="http://schemas.openxmlformats.org/drawingml/2006/main" w="0">
            <a:solidFill>
              <a:srgbClr val="FBE6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C99A7-5E03-4A03-AC6C-5186073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14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DFF5"/>
          </a:solidFill>
          <a:ln xmlns:a="http://schemas.openxmlformats.org/drawingml/2006/main" w="0">
            <a:solidFill>
              <a:srgbClr val="EADF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97ED6-AE6B-413A-9F89-B129BE91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SECTION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2BB0D-E6AF-4DA6-85FB-30C774B2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03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9202C-A018-43AF-A5DD-FB7E041D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F99CE-1951-4DCE-9142-2A0D57A9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Архітектура та патерни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AB25B-51DA-404F-9228-DC43E551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870"/>
                </a:solidFill>
              </a:defRPr>
            </a:pPr>
            <a:r>
              <a:rPr sz="1425" b="0">
                <a:solidFill>
                  <a:srgbClr val="5F6870"/>
                </a:solidFill>
              </a:rPr>
              <a:t>Проєкт побудований на багатошаровій архітектурі з явним поділом відповідальностей.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555DA-4D25-46EF-98F9-4399BEBE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6300"/>
            <a:ext cx="32004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C43FE-C566-453A-BD35-B09D2EB5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Presenter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14443-5E31-430E-85B5-8FA63FD3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97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Наголосити на testability, Repository pattern і DTO як на інструментах контролю якості.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9C72B-6042-41F9-97C4-0486C62A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5E162-6912-4891-8C80-74051537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D63"/>
          </a:solidFill>
          <a:ln xmlns:a="http://schemas.openxmlformats.org/drawingml/2006/main" w="0">
            <a:solidFill>
              <a:srgbClr val="1E8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DAB99-79E8-4A41-8F9E-D6DB3367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1A741-DF54-468C-8682-6F3C7577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шарів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9EBAB-2419-432C-BD3E-4F546290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0"/>
                </a:solidFill>
              </a:defRPr>
            </a:pPr>
            <a:r>
              <a:rPr sz="825" b="0">
                <a:solidFill>
                  <a:srgbClr val="5F6870"/>
                </a:solidFill>
              </a:rPr>
              <a:t>controllers, services, repositories, models, dto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D3B5C-7971-4774-BD57-9ED4D66D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E4A49-7C2F-4F40-B658-99390002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D7A8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7A783-96F8-439A-B2C5-3D3FD4A0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AED23-9C31-4D18-A033-9BBEE264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патерни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9DC33-53A0-46B1-892D-E9497DA9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149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0"/>
                </a:solidFill>
              </a:defRPr>
            </a:pPr>
            <a:r>
              <a:rPr sz="825" b="0">
                <a:solidFill>
                  <a:srgbClr val="5F6870"/>
                </a:solidFill>
              </a:rPr>
              <a:t>Repository + Singleton settings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C6B75-5B8A-48F7-93A1-E6912DFB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99AE1-7884-4D2A-9C0A-F59D9517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E86F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947C8-39C6-437B-B398-C69C5DB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SOLID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AB8D55-82FA-458A-95F2-086A234F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принципи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53AE8-891C-407A-B268-44799D7E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149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0"/>
                </a:solidFill>
              </a:defRPr>
            </a:pPr>
            <a:r>
              <a:rPr sz="825" b="0">
                <a:solidFill>
                  <a:srgbClr val="5F6870"/>
                </a:solidFill>
              </a:rPr>
              <a:t>розподіл ролей між класами і модулями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E874CA-6A14-442C-AB8D-FECD2E97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70"/>
                </a:solidFill>
              </a:defRPr>
            </a:pPr>
            <a:r>
              <a:rPr sz="750" b="0">
                <a:solidFill>
                  <a:srgbClr val="5F6870"/>
                </a:solidFill>
              </a:rPr>
              <a:t>Backend project deliverables: architecture, API, tests, Docker, CI/CD, documentation, diagrams,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287779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55A938-E11A-45D6-8CC6-F789FE465B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A53FC-1319-458E-AB03-008E3E99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EA"/>
          </a:solidFill>
          <a:ln xmlns:a="http://schemas.openxmlformats.org/drawingml/2006/main" w="0">
            <a:solidFill>
              <a:srgbClr val="DFF3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48D45-0D62-402D-87F6-CEAFC13A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6D7"/>
          </a:solidFill>
          <a:ln xmlns:a="http://schemas.openxmlformats.org/drawingml/2006/main" w="0">
            <a:solidFill>
              <a:srgbClr val="FBE6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41A7E-186D-4750-B92C-08289347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14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DFF5"/>
          </a:solidFill>
          <a:ln xmlns:a="http://schemas.openxmlformats.org/drawingml/2006/main" w="0">
            <a:solidFill>
              <a:srgbClr val="EADF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2D7EC-42DF-42DA-8733-FEB77685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SECTION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5FC94-4AD3-4D95-8A19-9F874B1A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04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771F7-DA43-4DF6-A50F-F8CDB4A2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6C0A6-3E8F-47D9-B7C3-85794654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REST API та безпека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C4E22-92E9-4164-988D-B4F37900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870"/>
                </a:solidFill>
              </a:defRPr>
            </a:pPr>
            <a:r>
              <a:rPr sz="1425" b="0">
                <a:solidFill>
                  <a:srgbClr val="5F6870"/>
                </a:solidFill>
              </a:rPr>
              <a:t>Сервіс підтримує документовані ендпоїнти, JWT-автентифікацію та рольову модель доступу.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2EE75-5653-4CF5-9ABE-D2A31200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6300"/>
            <a:ext cx="32004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324CF-FE9E-4E26-918D-F9CEA7D7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Presenter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4EA9C-324C-4F96-86FD-2B0301F7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97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Показати Swagger і коротко пройтися по auth, listings, moderation, messages, users.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21B6A-115F-4D19-8891-C8BE56A3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89BDF-58A0-4495-9664-A9E39DD6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D63"/>
          </a:solidFill>
          <a:ln xmlns:a="http://schemas.openxmlformats.org/drawingml/2006/main" w="0">
            <a:solidFill>
              <a:srgbClr val="1E8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CD127-155E-4552-8508-2B080C67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94FF1-BC7A-4395-8396-47BC5280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Реалізовано auth, users, categories, listings, moderation, messages та healthcheck.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86E6D-DC8E-460A-AFC4-0F3E9F13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7D386-189C-40ED-AFFB-36D81C8D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D7A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926BC-E294-43F6-8442-87DAF161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Безпека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F2E4A-934D-4B8C-988F-C2C402AA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JWT, RBAC, Pydantic-валідація, ORM-захист від SQL injection, перевірки прав у сервісах.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9AC4D-0B89-4AE1-A0AA-BEC0CFF9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0A021-77E2-4391-A362-CE796E59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E86F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60E28-EE42-4AB2-88C4-3BE68839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Документація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DF0D92-FDD2-4AD1-8A4F-BF7D6E4D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OpenAPI, Swagger UI і ReDoc генеруються автоматично FastAPI.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D7A7A-293B-422B-BB90-AC57FE99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70"/>
                </a:solidFill>
              </a:defRPr>
            </a:pPr>
            <a:r>
              <a:rPr sz="750" b="0">
                <a:solidFill>
                  <a:srgbClr val="5F6870"/>
                </a:solidFill>
              </a:rPr>
              <a:t>Backend project deliverables: architecture, API, tests, Docker, CI/CD, documentation, diagrams, presentation.</a:t>
            </a:r>
          </a:p>
        </p:txBody>
      </p:sp>
    </p:spTree>
    <p:extLst>
      <p:ext uri="{BB962C8B-B14F-4D97-AF65-F5344CB8AC3E}">
        <p14:creationId xmlns:p14="http://schemas.microsoft.com/office/powerpoint/2010/main" val="800026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55A938-E11A-45D6-8CC6-F789FE465B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1DF6C-6ED0-4562-9C36-00542504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EA"/>
          </a:solidFill>
          <a:ln xmlns:a="http://schemas.openxmlformats.org/drawingml/2006/main" w="0">
            <a:solidFill>
              <a:srgbClr val="DFF3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83B5A-B752-45C9-BD2C-82C3E677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6D7"/>
          </a:solidFill>
          <a:ln xmlns:a="http://schemas.openxmlformats.org/drawingml/2006/main" w="0">
            <a:solidFill>
              <a:srgbClr val="FBE6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D2DE9-B1F4-42AD-8E3B-22E4C4BD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14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DFF5"/>
          </a:solidFill>
          <a:ln xmlns:a="http://schemas.openxmlformats.org/drawingml/2006/main" w="0">
            <a:solidFill>
              <a:srgbClr val="EADF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D7E91-840E-4206-B00E-FFA09553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SECTION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811A6-2E79-4505-B5E0-83115D17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05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112E0-8AB9-41C9-8B4A-658A6615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1575A-055D-4DA9-BBDA-82EA9691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База даних та доменна 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0F3A1-0D85-46D2-9791-0B47882B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870"/>
                </a:solidFill>
              </a:defRPr>
            </a:pPr>
            <a:r>
              <a:rPr sz="1425" b="0">
                <a:solidFill>
                  <a:srgbClr val="5F6870"/>
                </a:solidFill>
              </a:rPr>
              <a:t>Модель даних нормалізована навколо користувачів, категорій, оголошень та повідомлень.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3AF79-D0AF-4E0D-AB9D-D552503D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6300"/>
            <a:ext cx="32004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8414C-E2D6-442D-A3EC-EDEBE8A6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Presenter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04C13-7D94-4C5B-8347-4C808EB8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97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Пояснити зв’язки users-categories-listings-messages та роль SQL migration.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32222-A700-444A-82CA-95F606FC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36817-67C0-45CC-843D-38A12FA4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D63"/>
          </a:solidFill>
          <a:ln xmlns:a="http://schemas.openxmlformats.org/drawingml/2006/main" w="0">
            <a:solidFill>
              <a:srgbClr val="1E8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F61DC-33F4-4A76-8413-CFD31743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Сутності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0AF1C-B172-4F1F-821B-9B8E48B9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User, Category, Listing, Message із зовнішніми ключами та ORM-зв’язками.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AD10C-CE5D-4523-9C59-7F06333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1A929-D9CD-4579-8EFA-CC0DA6C8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D7A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0C430-8F52-4483-A0CA-1778514F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База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4E5DE-67C8-4568-A5A6-8FC5135B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PostgreSQL як основна цільова БД, SQLite in-memory для швидких автотестів.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D66DF-3472-438C-A2A6-998E895B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A05228-5ED5-4073-8986-5974E577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E86F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237523-A684-43C5-A2D2-69ACD24E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CRUD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46EF6-5528-4D35-BCD7-ABC81463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Повний життєвий цикл ресурсів, включно з фактичним delete для listings.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6D7BBD-7942-4284-9059-74FFAEFC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70"/>
                </a:solidFill>
              </a:defRPr>
            </a:pPr>
            <a:r>
              <a:rPr sz="750" b="0">
                <a:solidFill>
                  <a:srgbClr val="5F6870"/>
                </a:solidFill>
              </a:rPr>
              <a:t>Backend project deliverables: architecture, API, tests, Docker, CI/CD, documentation, diagrams, presentation.</a:t>
            </a:r>
          </a:p>
        </p:txBody>
      </p:sp>
    </p:spTree>
    <p:extLst>
      <p:ext uri="{BB962C8B-B14F-4D97-AF65-F5344CB8AC3E}">
        <p14:creationId xmlns:p14="http://schemas.microsoft.com/office/powerpoint/2010/main" val="541462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55A938-E11A-45D6-8CC6-F789FE465B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55F65-3CF3-41AE-95FF-6B69F8CF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EA"/>
          </a:solidFill>
          <a:ln xmlns:a="http://schemas.openxmlformats.org/drawingml/2006/main" w="0">
            <a:solidFill>
              <a:srgbClr val="DFF3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94A35-6A9A-4109-AE1F-273B2522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6D7"/>
          </a:solidFill>
          <a:ln xmlns:a="http://schemas.openxmlformats.org/drawingml/2006/main" w="0">
            <a:solidFill>
              <a:srgbClr val="FBE6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FC1C0-A9EA-4407-9EDC-4A645C41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14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DFF5"/>
          </a:solidFill>
          <a:ln xmlns:a="http://schemas.openxmlformats.org/drawingml/2006/main" w="0">
            <a:solidFill>
              <a:srgbClr val="EADF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857A2-7AF7-48A8-9878-7EA17799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SECTION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BD363-EBFC-4F80-B7E7-68A2FE49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06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E2BE6-67BB-4AC5-8735-8CA76CED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D4E61-A697-43BF-B057-768191CD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Якість коду та тестування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C1F48-C52C-41B9-9FFC-3516FC49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870"/>
                </a:solidFill>
              </a:defRPr>
            </a:pPr>
            <a:r>
              <a:rPr sz="1425" b="0">
                <a:solidFill>
                  <a:srgbClr val="5F6870"/>
                </a:solidFill>
              </a:rPr>
              <a:t>Якість підтримується юніт- та інтеграційними тестами, лінтингом і покриттям сценаріїв.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926E6-1387-46A1-95F6-5717940D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6300"/>
            <a:ext cx="32004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A3586-55F3-4A6B-8928-620A3C39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Presenter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0A8EF-61CC-4906-8464-BE691D01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97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На захисті можна показати інтеграційний флоу й окремо підкреслити automated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7832A-AB0A-4314-B50D-D309F94F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8F67B-23B4-42B6-975D-43B3B3CE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D63"/>
          </a:solidFill>
          <a:ln xmlns:a="http://schemas.openxmlformats.org/drawingml/2006/main" w="0">
            <a:solidFill>
              <a:srgbClr val="1E8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5E2D0-9D7D-4F70-AA67-64FA4BF8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91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8C39B-A571-41A6-8DB9-F79B6EF8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автотест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25DBE-CE6B-41CC-9CD2-4E76FDB6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0"/>
                </a:solidFill>
              </a:defRPr>
            </a:pPr>
            <a:r>
              <a:rPr sz="825" b="0">
                <a:solidFill>
                  <a:srgbClr val="5F6870"/>
                </a:solidFill>
              </a:rPr>
              <a:t>unit +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D007D-9708-4ACC-8F73-FB320EA0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5253A-2F3B-4621-A643-8EC56A2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D7A8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7F81B-8C0B-493D-9643-19419A37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Ruff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4D8FD-7872-45C6-B952-B4CBBC1A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лінтинг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9FA2A-15F3-4400-BB02-6659B092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149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0"/>
                </a:solidFill>
              </a:defRPr>
            </a:pPr>
            <a:r>
              <a:rPr sz="825" b="0">
                <a:solidFill>
                  <a:srgbClr val="5F6870"/>
                </a:solidFill>
              </a:rPr>
              <a:t>статичний аналіз і стиль коду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FB5E0-29C6-4008-A6A3-35186AEF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143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2F8D6-6DC9-429B-8146-9DB8E647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E86F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B81B2-F363-4FBC-BD85-55D82CBB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2430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CI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ECAC5-3D54-459B-934D-EC7E13C8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перевірка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441E7-94E3-4287-B353-C15DEE82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149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0"/>
                </a:solidFill>
              </a:defRPr>
            </a:pPr>
            <a:r>
              <a:rPr sz="825" b="0">
                <a:solidFill>
                  <a:srgbClr val="5F6870"/>
                </a:solidFill>
              </a:rPr>
              <a:t>pytest, coverage.xml, junit report, artifact upload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F7E3F-682E-4B05-8E69-A16D3114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70"/>
                </a:solidFill>
              </a:defRPr>
            </a:pPr>
            <a:r>
              <a:rPr sz="750" b="0">
                <a:solidFill>
                  <a:srgbClr val="5F6870"/>
                </a:solidFill>
              </a:rPr>
              <a:t>Backend project deliverables: architecture, API, tests, Docker, CI/CD, documentation, diagrams,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414899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55A938-E11A-45D6-8CC6-F789FE465B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84A29-C1CA-4C11-AF67-88D29E62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EA"/>
          </a:solidFill>
          <a:ln xmlns:a="http://schemas.openxmlformats.org/drawingml/2006/main" w="0">
            <a:solidFill>
              <a:srgbClr val="DFF3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0136C-A149-4317-B1A9-6B2BEFB9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6D7"/>
          </a:solidFill>
          <a:ln xmlns:a="http://schemas.openxmlformats.org/drawingml/2006/main" w="0">
            <a:solidFill>
              <a:srgbClr val="FBE6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7CF0E-4F39-48A9-9B20-EC6F520B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14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DFF5"/>
          </a:solidFill>
          <a:ln xmlns:a="http://schemas.openxmlformats.org/drawingml/2006/main" w="0">
            <a:solidFill>
              <a:srgbClr val="EADF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8895E-9C4E-46F9-B6A7-F9D1A156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SECTION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75A85-532C-4EB9-89B3-3CC1E21B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07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948CA-7440-47F0-9B5F-08888BEB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91896-C5A3-4C71-BBF0-2A8223C6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DevOps, Docker та CI/CD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1BDDC-A1E2-4097-985C-AC3FBB31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870"/>
                </a:solidFill>
              </a:defRPr>
            </a:pPr>
            <a:r>
              <a:rPr sz="1425" b="0">
                <a:solidFill>
                  <a:srgbClr val="5F6870"/>
                </a:solidFill>
              </a:rPr>
              <a:t>Проєкт контейнеризовано і підготовлено до стабільного запуску та публікації образу.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00D3B-8B7C-4FE7-B4CA-2B2E25E2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6300"/>
            <a:ext cx="32004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FEABC-6CEB-40A5-97BE-E44759C1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Presenter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BDE3B-83A4-4DA5-846F-BA8ECC90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97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Пояснити різницю між CI і CD та показати, що тепер є окремий deploy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58629-A4DA-40BE-9649-D92B98EF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B5E41-01A4-4621-845E-36E74C5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D63"/>
          </a:solidFill>
          <a:ln xmlns:a="http://schemas.openxmlformats.org/drawingml/2006/main" w="0">
            <a:solidFill>
              <a:srgbClr val="1E8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66A70-CDA3-4B74-9EAB-E771C0DE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Docker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D29CA-27AE-42CD-A663-5466E08D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Є Dockerfile, docker-compose, .dockerignore, .env.example і healthcheck для PostgreSQL.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06B24-5413-43D7-8E1E-B5E3ADFB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52363-19B3-4D88-91EA-6577CB4C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D7A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1DA84-C402-476F-875C-B680D27B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6E19F-1C3F-4874-B84B-C774EB5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GitHub Actions перевіряє код, запускає тести й зберігає звіти як артефакти.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24F78-82EF-4879-8999-3C4B72FD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13ECC0-D877-489E-84ED-962CE5FB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E86F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67CE8C-6938-4BCA-8CF9-66827B40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CD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7A5C1-8071-4AD1-94EB-76F8BD8C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Окремий workflow публікує Docker image у GitHub Container Registry після push у main.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BDF36-902E-4D82-84D1-FC203DBE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70"/>
                </a:solidFill>
              </a:defRPr>
            </a:pPr>
            <a:r>
              <a:rPr sz="750" b="0">
                <a:solidFill>
                  <a:srgbClr val="5F6870"/>
                </a:solidFill>
              </a:rPr>
              <a:t>Backend project deliverables: architecture, API, tests, Docker, CI/CD, documentation, diagrams, presentation.</a:t>
            </a:r>
          </a:p>
        </p:txBody>
      </p:sp>
    </p:spTree>
    <p:extLst>
      <p:ext uri="{BB962C8B-B14F-4D97-AF65-F5344CB8AC3E}">
        <p14:creationId xmlns:p14="http://schemas.microsoft.com/office/powerpoint/2010/main" val="819437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55A938-E11A-45D6-8CC6-F789FE465B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1B564-0E7B-4E17-AA5D-BB2DE2C0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EA"/>
          </a:solidFill>
          <a:ln xmlns:a="http://schemas.openxmlformats.org/drawingml/2006/main" w="0">
            <a:solidFill>
              <a:srgbClr val="DFF3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7F61E-183B-425B-A144-9AC48C97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6D7"/>
          </a:solidFill>
          <a:ln xmlns:a="http://schemas.openxmlformats.org/drawingml/2006/main" w="0">
            <a:solidFill>
              <a:srgbClr val="FBE6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DADC1-533B-494A-921F-049CA7AA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1430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DFF5"/>
          </a:solidFill>
          <a:ln xmlns:a="http://schemas.openxmlformats.org/drawingml/2006/main" w="0">
            <a:solidFill>
              <a:srgbClr val="EADF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56D44-E9B3-446E-B9BA-37937CCF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SECTION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4FD03-0067-4592-8FBE-D1911CFF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08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8A004-0F57-4C44-8AFB-C4FE0889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8C527-A3FE-4740-9904-1C644550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Підсумок та готовність до захисту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43DF2-66DC-4698-97EF-7E9E2842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85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870"/>
                </a:solidFill>
              </a:defRPr>
            </a:pPr>
            <a:r>
              <a:rPr sz="1425" b="0">
                <a:solidFill>
                  <a:srgbClr val="5F6870"/>
                </a:solidFill>
              </a:rPr>
              <a:t>Лабораторна охоплює вимоги, моделювання, архітектуру, безпеку, тести, API, DevOps і документацію.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B246F-A785-4E3E-BAE5-C8683302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76300"/>
            <a:ext cx="32004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22A5B-AB54-4940-B365-E6A3AAC5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8D63"/>
                </a:solidFill>
              </a:defRPr>
            </a:pPr>
            <a:r>
              <a:rPr sz="975" b="1">
                <a:solidFill>
                  <a:srgbClr val="1E8D63"/>
                </a:solidFill>
              </a:rPr>
              <a:t>Presenter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2B93F-9E9E-45FF-BE8A-518A8588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97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Завершити сильним summary і показати, що git-історія розбита на rollback-friendly коміти.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B9159-99E3-408A-A0E6-04F714C8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FFF5B-A6D7-4C5C-B614-A71F392D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D63"/>
          </a:solidFill>
          <a:ln xmlns:a="http://schemas.openxmlformats.org/drawingml/2006/main" w="0">
            <a:solidFill>
              <a:srgbClr val="1E8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95359-388D-4D23-A5F4-76F4151C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Що реалізовано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6F09B-8AB1-47C0-8B28-0FBFD945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Архітектура, API, БД, безпека, тести, Docker, CI/CD, діаграми, документація і презентація.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17CF1-1CCA-4E9F-8E2B-77E8CAE7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B0CE0-7B58-4627-BFE9-2ADB6A2D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D7A8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7DC6B-E292-4580-AD2A-6C0C61D0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Що показати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AE31D-F966-45C1-8C44-6B28D4ED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Swagger, CRUD сценарії, модерацію, тести, docker compose запуск, структуру docs і workflows.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219E4-9FF7-4B3E-8860-E4D4CFC5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33528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CFEDF-2DA8-445B-B6E7-8D8B89D5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E86F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46285-B4D9-47B5-8718-7CDB6FEB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33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8D63"/>
                </a:solidFill>
              </a:defRPr>
            </a:pPr>
            <a:r>
              <a:rPr sz="1050" b="1">
                <a:solidFill>
                  <a:srgbClr val="1E8D63"/>
                </a:solidFill>
              </a:rPr>
              <a:t>Результат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45115E-5D96-4203-A24C-4603F2B1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4"/>
                </a:solidFill>
              </a:defRPr>
            </a:pPr>
            <a:r>
              <a:rPr sz="1350" b="0">
                <a:solidFill>
                  <a:srgbClr val="101214"/>
                </a:solidFill>
              </a:rPr>
              <a:t>Репозиторій готовий до демонстрації, а всі великі зміни винесені в окремі змістовні коміти.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0119EB-3092-496E-B4B4-E4B9FF5C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870"/>
                </a:solidFill>
              </a:defRPr>
            </a:pPr>
            <a:r>
              <a:rPr sz="750" b="0">
                <a:solidFill>
                  <a:srgbClr val="5F6870"/>
                </a:solidFill>
              </a:rPr>
              <a:t>Backend project deliverables: architecture, API, tests, Docker, CI/CD, documentation, diagrams,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072127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2026-04-23T17:22:23.0790000Z</dcterms:created>
  <dcterms:modified xsi:type="dcterms:W3CDTF">2026-04-23T17:22:23.0790000Z</dcterms:modified>
</coreProperties>
</file>